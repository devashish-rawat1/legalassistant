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IN" sz="1300" b="1"/>
              <a:t>Test Cases per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DD8047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Coverage</c:v>
                </c:pt>
                <c:pt idx="1">
                  <c:v>Precision</c:v>
                </c:pt>
                <c:pt idx="2">
                  <c:v>Specificity</c:v>
                </c:pt>
                <c:pt idx="3">
                  <c:v>Definition</c:v>
                </c:pt>
                <c:pt idx="4">
                  <c:v>Naming</c:v>
                </c:pt>
                <c:pt idx="5">
                  <c:v>Negative</c:v>
                </c:pt>
                <c:pt idx="6">
                  <c:v>Adversarial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12-4840-8A65-C700EA4735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0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AAE40-EC51-40B7-BEE9-A309CD065EBB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65386-9BEA-4027-A533-701655781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B05FC8C-5F84-40FC-9DB3-36FAAD4852D4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3B58-94F3-49B3-A594-72F91CE4F73B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83B2-5A21-40A6-8CC9-AECD50B431A2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894BB91-8EDE-443C-934F-82BCDBE84739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402FC8E-0AD3-46CC-B4A8-9E21B2D784F3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778E-50AD-4331-9E18-57BE71B7F4DA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FDFE-A229-48E6-90CD-7598AE829545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FCCE-38D0-4CB1-84AE-92A62C822E7F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64D0CD7-4FA3-45CB-B70F-EA07A191669C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4A09-1599-4196-9A51-AAA25C326068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691CC3B7-7831-48B7-B16A-CE5D505072FA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1"/>
                </a:solidFill>
              </a:defRPr>
            </a:lvl1pPr>
          </a:lstStyle>
          <a:p>
            <a:fld id="{76F79B87-CAF0-4157-B382-432074DEE2A5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 descr="C:\Users\vipin.tyagi\Desktop\footer-img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229600" y="228600"/>
            <a:ext cx="743185" cy="88526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09728"/>
            <a:ext cx="6477000" cy="1417320"/>
          </a:xfrm>
        </p:spPr>
        <p:txBody>
          <a:bodyPr/>
          <a:lstStyle/>
          <a:p>
            <a:pPr algn="ctr"/>
            <a:r>
              <a:rPr lang="en-US" sz="2400" b="1" dirty="0"/>
              <a:t>LegalAssistant: AI-Powered RAG-Based Legal Assistant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Jaypee</a:t>
            </a:r>
            <a:r>
              <a:rPr lang="en-US" sz="2000" dirty="0">
                <a:solidFill>
                  <a:schemeClr val="bg1"/>
                </a:solidFill>
              </a:rPr>
              <a:t> University of Engineering &amp; Technology, </a:t>
            </a:r>
            <a:r>
              <a:rPr lang="en-US" sz="2000" dirty="0" err="1">
                <a:solidFill>
                  <a:schemeClr val="bg1"/>
                </a:solidFill>
              </a:rPr>
              <a:t>Guna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1600200"/>
            <a:ext cx="525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Devashish Rawat (</a:t>
            </a:r>
            <a:r>
              <a:rPr lang="en-US" dirty="0" err="1">
                <a:solidFill>
                  <a:schemeClr val="bg1"/>
                </a:solidFill>
              </a:rPr>
              <a:t>231b097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Akshit Shukla (</a:t>
            </a:r>
            <a:r>
              <a:rPr lang="en-US" dirty="0" err="1">
                <a:solidFill>
                  <a:schemeClr val="bg1"/>
                </a:solidFill>
              </a:rPr>
              <a:t>231b032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0" y="2819400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Under the supervision of: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Prof. Sanjay Garg</a:t>
            </a:r>
          </a:p>
        </p:txBody>
      </p:sp>
      <p:pic>
        <p:nvPicPr>
          <p:cNvPr id="1026" name="Picture 2" descr="C:\Users\vipin.tyagi\Desktop\footer-im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4343400"/>
            <a:ext cx="1041400" cy="12404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23760" cy="1272222"/>
          </a:xfrm>
        </p:spPr>
        <p:txBody>
          <a:bodyPr wrap="square"/>
          <a:lstStyle/>
          <a:p>
            <a:r>
              <a:rPr sz="3200" b="1" dirty="0">
                <a:solidFill>
                  <a:srgbClr val="333333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160520" cy="4495800"/>
          </a:xfrm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dirty="0">
                <a:solidFill>
                  <a:srgbClr val="333333"/>
                </a:solidFill>
                <a:latin typeface="Calibri"/>
              </a:rPr>
              <a:t>Overview: </a:t>
            </a:r>
            <a:r>
              <a:rPr sz="1400" b="0" dirty="0" err="1">
                <a:solidFill>
                  <a:srgbClr val="333333"/>
                </a:solidFill>
                <a:latin typeface="Calibri"/>
              </a:rPr>
              <a:t>LegalAssistant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 is an AI-powered legal information tool for Indian law that uses Retrieval-Augmented Generation (RAG) to answer questions in plain language.</a:t>
            </a:r>
            <a:endParaRPr lang="en-US" dirty="0"/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dirty="0">
                <a:solidFill>
                  <a:srgbClr val="333333"/>
                </a:solidFill>
                <a:latin typeface="Calibri"/>
              </a:rPr>
              <a:t>Grounding: 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Every answer is generated only from retrieved statutory text, not from the model's memory — reducing hallucinated law.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dirty="0">
                <a:solidFill>
                  <a:srgbClr val="333333"/>
                </a:solidFill>
                <a:latin typeface="Calibri"/>
              </a:rPr>
              <a:t>Objective: 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Build an end-to-end RAG pipeline — data ingestion, retrieval, grounded generation, and a chat interface — as a </a:t>
            </a:r>
            <a:r>
              <a:rPr sz="1400" b="0" dirty="0" err="1">
                <a:solidFill>
                  <a:srgbClr val="333333"/>
                </a:solidFill>
                <a:latin typeface="Calibri"/>
              </a:rPr>
              <a:t>B.Tech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 major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047488" y="2057400"/>
            <a:ext cx="2651760" cy="594360"/>
          </a:xfrm>
          <a:prstGeom prst="roundRect">
            <a:avLst>
              <a:gd name="adj" fmla="val 8000"/>
            </a:avLst>
          </a:prstGeom>
          <a:solidFill>
            <a:srgbClr val="7B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Statutory Text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(Bare Acts)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73368" y="2651760"/>
            <a:ext cx="0" cy="457200"/>
          </a:xfrm>
          <a:prstGeom prst="line">
            <a:avLst/>
          </a:prstGeom>
          <a:ln w="19050">
            <a:solidFill>
              <a:srgbClr val="775F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47488" y="3108960"/>
            <a:ext cx="2651760" cy="594360"/>
          </a:xfrm>
          <a:prstGeom prst="roundRect">
            <a:avLst>
              <a:gd name="adj" fmla="val 8000"/>
            </a:avLst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RAG Pipeline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(Retrieve + Generate)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73368" y="3703320"/>
            <a:ext cx="0" cy="457200"/>
          </a:xfrm>
          <a:prstGeom prst="line">
            <a:avLst/>
          </a:prstGeom>
          <a:ln w="19050">
            <a:solidFill>
              <a:srgbClr val="775F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47488" y="4160520"/>
            <a:ext cx="2651760" cy="594360"/>
          </a:xfrm>
          <a:prstGeom prst="roundRect">
            <a:avLst>
              <a:gd name="adj" fmla="val 8000"/>
            </a:avLst>
          </a:prstGeom>
          <a:solidFill>
            <a:srgbClr val="775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Grounded, Cited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7223760" cy="1272223"/>
          </a:xfrm>
        </p:spPr>
        <p:txBody>
          <a:bodyPr wrap="square"/>
          <a:lstStyle/>
          <a:p>
            <a:r>
              <a:rPr sz="3200" b="1" dirty="0">
                <a:solidFill>
                  <a:srgbClr val="333333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81228" y="1943100"/>
            <a:ext cx="502920" cy="502920"/>
          </a:xfrm>
          <a:prstGeom prst="ellipse">
            <a:avLst/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737360"/>
            <a:ext cx="73304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775F55"/>
                </a:solidFill>
                <a:latin typeface="Calibri"/>
              </a:rPr>
              <a:t>Legal literacy gap  —  </a:t>
            </a:r>
            <a:r>
              <a:rPr sz="1400">
                <a:solidFill>
                  <a:srgbClr val="333333"/>
                </a:solidFill>
                <a:latin typeface="Calibri"/>
              </a:rPr>
              <a:t>Most citizens cannot interpret statutory language (e.g. BNS sections) without professional help.</a:t>
            </a:r>
          </a:p>
        </p:txBody>
      </p:sp>
      <p:sp>
        <p:nvSpPr>
          <p:cNvPr id="8" name="Oval 7"/>
          <p:cNvSpPr/>
          <p:nvPr/>
        </p:nvSpPr>
        <p:spPr>
          <a:xfrm>
            <a:off x="681228" y="2967228"/>
            <a:ext cx="502920" cy="502920"/>
          </a:xfrm>
          <a:prstGeom prst="ellipse">
            <a:avLst/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761488"/>
            <a:ext cx="73304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775F55"/>
                </a:solidFill>
                <a:latin typeface="Calibri"/>
              </a:rPr>
              <a:t>Cost of consultation  —  </a:t>
            </a:r>
            <a:r>
              <a:rPr sz="1400">
                <a:solidFill>
                  <a:srgbClr val="333333"/>
                </a:solidFill>
                <a:latin typeface="Calibri"/>
              </a:rPr>
              <a:t>A basic legal opinion is often unaffordable for routine questions — tenancy, consumer, minor traffic matters.</a:t>
            </a:r>
          </a:p>
        </p:txBody>
      </p:sp>
      <p:sp>
        <p:nvSpPr>
          <p:cNvPr id="10" name="Oval 9"/>
          <p:cNvSpPr/>
          <p:nvPr/>
        </p:nvSpPr>
        <p:spPr>
          <a:xfrm>
            <a:off x="681228" y="3991356"/>
            <a:ext cx="502920" cy="502920"/>
          </a:xfrm>
          <a:prstGeom prst="ellipse">
            <a:avLst/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785616"/>
            <a:ext cx="73304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775F55"/>
                </a:solidFill>
                <a:latin typeface="Calibri"/>
              </a:rPr>
              <a:t>Fragmented, changing law  —  </a:t>
            </a:r>
            <a:r>
              <a:rPr sz="1400">
                <a:solidFill>
                  <a:srgbClr val="333333"/>
                </a:solidFill>
                <a:latin typeface="Calibri"/>
              </a:rPr>
              <a:t>The 2023 overhaul (BNS/BNSS/BSA replacing IPC/CrPC/Evidence Act) makes manual lookup slow and outdated answers common.</a:t>
            </a:r>
          </a:p>
        </p:txBody>
      </p:sp>
      <p:sp>
        <p:nvSpPr>
          <p:cNvPr id="12" name="Oval 11"/>
          <p:cNvSpPr/>
          <p:nvPr/>
        </p:nvSpPr>
        <p:spPr>
          <a:xfrm>
            <a:off x="681228" y="5015483"/>
            <a:ext cx="502920" cy="502920"/>
          </a:xfrm>
          <a:prstGeom prst="ellipse">
            <a:avLst/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809744"/>
            <a:ext cx="73304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775F55"/>
                </a:solidFill>
                <a:latin typeface="Calibri"/>
              </a:rPr>
              <a:t>Generic AI hallucinates  —  </a:t>
            </a:r>
            <a:r>
              <a:rPr sz="1400">
                <a:solidFill>
                  <a:srgbClr val="333333"/>
                </a:solidFill>
                <a:latin typeface="Calibri"/>
              </a:rPr>
              <a:t>A general-purpose chatbot answering from memory can generate plausible but legally incorrect or outdated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46385"/>
            <a:ext cx="7223760" cy="662622"/>
          </a:xfrm>
        </p:spPr>
        <p:txBody>
          <a:bodyPr wrap="square">
            <a:normAutofit/>
          </a:bodyPr>
          <a:lstStyle/>
          <a:p>
            <a:r>
              <a:rPr sz="3200" b="1" dirty="0">
                <a:solidFill>
                  <a:srgbClr val="333333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399" cy="2651760"/>
          </a:xfrm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 dirty="0">
                <a:solidFill>
                  <a:srgbClr val="333333"/>
                </a:solidFill>
                <a:latin typeface="Calibri"/>
              </a:rPr>
              <a:t>Reference implementation: 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studied </a:t>
            </a:r>
            <a:r>
              <a:rPr sz="1400" b="0" dirty="0" err="1">
                <a:solidFill>
                  <a:srgbClr val="333333"/>
                </a:solidFill>
                <a:latin typeface="Calibri"/>
              </a:rPr>
              <a:t>LawGlance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, an open-source RAG-based legal assistant for Indian law, as the primary point of comparison.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 dirty="0">
                <a:solidFill>
                  <a:srgbClr val="333333"/>
                </a:solidFill>
                <a:latin typeface="Calibri"/>
              </a:rPr>
              <a:t>Architecture reviewed: </a:t>
            </a:r>
            <a:r>
              <a:rPr sz="1400" b="0" dirty="0" err="1">
                <a:solidFill>
                  <a:srgbClr val="333333"/>
                </a:solidFill>
                <a:latin typeface="Calibri"/>
              </a:rPr>
              <a:t>LangChain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-based retrieval chain, a </a:t>
            </a:r>
            <a:r>
              <a:rPr sz="1400" b="0" dirty="0" err="1">
                <a:solidFill>
                  <a:srgbClr val="333333"/>
                </a:solidFill>
                <a:latin typeface="Calibri"/>
              </a:rPr>
              <a:t>ChromaDB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 vector store, and a </a:t>
            </a:r>
            <a:r>
              <a:rPr sz="1400" b="0" dirty="0" err="1">
                <a:solidFill>
                  <a:srgbClr val="333333"/>
                </a:solidFill>
                <a:latin typeface="Calibri"/>
              </a:rPr>
              <a:t>Streamlit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 chat interface.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 dirty="0">
                <a:solidFill>
                  <a:srgbClr val="333333"/>
                </a:solidFill>
                <a:latin typeface="Calibri"/>
              </a:rPr>
              <a:t>Broader context: </a:t>
            </a:r>
            <a:r>
              <a:rPr sz="1400" b="0" dirty="0">
                <a:solidFill>
                  <a:srgbClr val="333333"/>
                </a:solidFill>
                <a:latin typeface="Calibri"/>
              </a:rPr>
              <a:t>Retrieval-Augmented Generation (Lewis et al., 2020) is the established approach for grounding LLMs in domain-specific, verifiable text, in preference to fine-tuning or prompting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12648" y="4434840"/>
            <a:ext cx="8153399" cy="1188720"/>
          </a:xfrm>
          <a:prstGeom prst="roundRect">
            <a:avLst>
              <a:gd name="adj" fmla="val 6000"/>
            </a:avLst>
          </a:prstGeom>
          <a:solidFill>
            <a:srgbClr val="EBD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1">
                <a:solidFill>
                  <a:srgbClr val="775F55"/>
                </a:solidFill>
                <a:latin typeface="Calibri"/>
              </a:rPr>
              <a:t>Key observation:  </a:t>
            </a:r>
            <a:r>
              <a:rPr sz="1400">
                <a:solidFill>
                  <a:srgbClr val="333333"/>
                </a:solidFill>
                <a:latin typeface="Calibri"/>
              </a:rPr>
              <a:t>LawGlance ships a pre-built vector database but does not publish the ingestion pipeline (PDF extraction, cleaning, chunking) that creates it — it cannot be reproduced or extended as-is.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23760" cy="1272222"/>
          </a:xfrm>
        </p:spPr>
        <p:txBody>
          <a:bodyPr wrap="square"/>
          <a:lstStyle/>
          <a:p>
            <a:r>
              <a:rPr sz="3200" b="1" dirty="0">
                <a:solidFill>
                  <a:srgbClr val="333333"/>
                </a:solidFill>
                <a:latin typeface="Calibri"/>
              </a:rPr>
              <a:t>Limitations of Existing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12648" y="1691640"/>
            <a:ext cx="457200" cy="960120"/>
          </a:xfrm>
          <a:prstGeom prst="roundRect">
            <a:avLst>
              <a:gd name="adj" fmla="val 6000"/>
            </a:avLst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52728" y="1691640"/>
            <a:ext cx="7513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50">
                <a:solidFill>
                  <a:srgbClr val="333333"/>
                </a:solidFill>
                <a:latin typeface="Calibri"/>
              </a:rPr>
              <a:t>No public ingestion pipeline — cannot be reproduced or extended to new 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43200"/>
            <a:ext cx="457200" cy="960120"/>
          </a:xfrm>
          <a:prstGeom prst="roundRect">
            <a:avLst>
              <a:gd name="adj" fmla="val 6000"/>
            </a:avLst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2728" y="2743200"/>
            <a:ext cx="7513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50">
                <a:solidFill>
                  <a:srgbClr val="333333"/>
                </a:solidFill>
                <a:latin typeface="Calibri"/>
              </a:rPr>
              <a:t>Single-provider lock-in (OpenAI for both embeddings and generation) — costly and not reproducible without paid API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794760"/>
            <a:ext cx="457200" cy="960120"/>
          </a:xfrm>
          <a:prstGeom prst="roundRect">
            <a:avLst>
              <a:gd name="adj" fmla="val 6000"/>
            </a:avLst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52728" y="3794760"/>
            <a:ext cx="7513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50">
                <a:solidFill>
                  <a:srgbClr val="333333"/>
                </a:solidFill>
                <a:latin typeface="Calibri"/>
              </a:rPr>
              <a:t>Plain vector similarity search only — no mechanism for cross-references between related sections (definitions, exceptions, amendments).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4846320"/>
            <a:ext cx="457200" cy="960120"/>
          </a:xfrm>
          <a:prstGeom prst="roundRect">
            <a:avLst>
              <a:gd name="adj" fmla="val 6000"/>
            </a:avLst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4846320"/>
            <a:ext cx="7513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50">
                <a:solidFill>
                  <a:srgbClr val="333333"/>
                </a:solidFill>
                <a:latin typeface="Calibri"/>
              </a:rPr>
              <a:t>No systematic evaluation — no test suite to verify retrieval correctness across legal domains.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943600"/>
            <a:ext cx="8153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95959"/>
                </a:solidFill>
                <a:latin typeface="Calibri"/>
              </a:rPr>
              <a:t>These four gaps map directly to the design choices made in this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7223760" cy="0"/>
          </a:xfrm>
        </p:spPr>
        <p:txBody>
          <a:bodyPr wrap="square">
            <a:normAutofit fontScale="90000"/>
          </a:bodyPr>
          <a:lstStyle/>
          <a:p>
            <a:r>
              <a:rPr sz="3200" b="1" dirty="0">
                <a:solidFill>
                  <a:srgbClr val="333333"/>
                </a:solidFill>
                <a:latin typeface="Calibri"/>
              </a:rPr>
              <a:t>Work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600200"/>
          <a:ext cx="81381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73152" marR="73152" anchor="ctr">
                    <a:solidFill>
                      <a:srgbClr val="775F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 Focus</a:t>
                      </a:r>
                    </a:p>
                  </a:txBody>
                  <a:tcPr marL="73152" marR="73152" anchor="ctr">
                    <a:solidFill>
                      <a:srgbClr val="775F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anchor="ctr">
                    <a:solidFill>
                      <a:srgbClr val="775F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Repo setup, architecture design, problem definition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F7D3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2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Data cleaning pipeline, chunking strategy design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F7D3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Embeddings + ChromaDB vector store population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F7D3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4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History-aware retriever, similarity search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F7D3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RAG chain (retrieval + generation), Groq integration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F7D3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6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Build test set (31 test cases + 3 multi-turn)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F7D3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Backend orchestration, session handling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595959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8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Caching, latency optimization, source citations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595959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GraphRAG exploration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595959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10-11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Frontend integration, end-to-end testing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595959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Week 12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Calibri"/>
                        </a:rPr>
                        <a:t>Evaluation, report &amp; presentation finalization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595959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5669280"/>
            <a:ext cx="8153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*Aligned with weekly progress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7223760" cy="0"/>
          </a:xfrm>
        </p:spPr>
        <p:txBody>
          <a:bodyPr wrap="square">
            <a:normAutofit fontScale="90000"/>
          </a:bodyPr>
          <a:lstStyle/>
          <a:p>
            <a:r>
              <a:rPr sz="3200" b="1" dirty="0">
                <a:solidFill>
                  <a:srgbClr val="333333"/>
                </a:solidFill>
                <a:latin typeface="Calibri"/>
              </a:rPr>
              <a:t>Individual Contribution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874519"/>
          <a:ext cx="81381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Member Name</a:t>
                      </a:r>
                    </a:p>
                  </a:txBody>
                  <a:tcPr marL="73152" marR="73152" anchor="ctr">
                    <a:solidFill>
                      <a:srgbClr val="775F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Enrollment No.</a:t>
                      </a:r>
                    </a:p>
                  </a:txBody>
                  <a:tcPr marL="73152" marR="73152" anchor="ctr">
                    <a:solidFill>
                      <a:srgbClr val="775F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73152" marR="73152" anchor="ctr">
                    <a:solidFill>
                      <a:srgbClr val="775F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Devashish Rawat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231b097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AI/RAG pipeline: data ingestion, chunking, embeddings, retrieval chain, LLM integration, evaluation framework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Akshit Shukla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231b032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Data collection &amp; validation from India Code, prompt design support, evaluation review; frontend architecture (Next.js), UI design, and deployment planning</a:t>
                      </a:r>
                    </a:p>
                  </a:txBody>
                  <a:tcPr marL="73152" marR="73152" anchor="ctr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7223760" cy="0"/>
          </a:xfrm>
        </p:spPr>
        <p:txBody>
          <a:bodyPr wrap="square">
            <a:normAutofit fontScale="90000"/>
          </a:bodyPr>
          <a:lstStyle/>
          <a:p>
            <a:r>
              <a:rPr sz="2700" b="1" dirty="0">
                <a:solidFill>
                  <a:srgbClr val="333333"/>
                </a:solidFill>
                <a:latin typeface="Calibri"/>
              </a:rPr>
              <a:t>Work Done — Dataset &amp;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114800" cy="4495800"/>
          </a:xfrm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333333"/>
                </a:solidFill>
                <a:latin typeface="Calibri"/>
              </a:rPr>
              <a:t>Source: </a:t>
            </a:r>
            <a:r>
              <a:rPr sz="1350" b="0">
                <a:solidFill>
                  <a:srgbClr val="333333"/>
                </a:solidFill>
                <a:latin typeface="Calibri"/>
              </a:rPr>
              <a:t>official bare-act PDFs from India Code (indiacode.nic.in) — primary, government-maintained text.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333333"/>
                </a:solidFill>
                <a:latin typeface="Calibri"/>
              </a:rPr>
              <a:t>Acts indexed (8): </a:t>
            </a:r>
            <a:r>
              <a:rPr sz="1350" b="0">
                <a:solidFill>
                  <a:srgbClr val="333333"/>
                </a:solidFill>
                <a:latin typeface="Calibri"/>
              </a:rPr>
              <a:t>Constitution, Bharatiya Nyaya Sanhita 2023, Bharatiya Nagarik Suraksha Sanhita 2023, Bharatiya Sakshya Adhiniyam 2023, Consumer Protection Act 2019, Motor Vehicles Act 1988, IT Act 2000, Workplace Harassment Act 2013.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333333"/>
                </a:solidFill>
                <a:latin typeface="Calibri"/>
              </a:rPr>
              <a:t>Pipeline: </a:t>
            </a:r>
            <a:r>
              <a:rPr sz="1350" b="0">
                <a:solidFill>
                  <a:srgbClr val="333333"/>
                </a:solidFill>
                <a:latin typeface="Calibri"/>
              </a:rPr>
              <a:t>extract → clean → chunk (per-section) → embed → persist to a Chroma vector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047488" y="160020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8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alibri"/>
              </a:rPr>
              <a:t>Indian acts indexed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7488" y="297180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531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alibri"/>
              </a:rPr>
              <a:t>Section-level chunks embedded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434340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775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Local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alibri"/>
              </a:rPr>
              <a:t>Embeddings — no API key or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7223760" cy="0"/>
          </a:xfrm>
        </p:spPr>
        <p:txBody>
          <a:bodyPr wrap="square">
            <a:normAutofit fontScale="90000"/>
          </a:bodyPr>
          <a:lstStyle/>
          <a:p>
            <a:r>
              <a:rPr sz="3200" b="1" dirty="0">
                <a:solidFill>
                  <a:srgbClr val="333333"/>
                </a:solidFill>
                <a:latin typeface="Calibri"/>
              </a:rPr>
              <a:t>Work Done — RAG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12648" y="1691640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7B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User Question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67228" y="2258568"/>
            <a:ext cx="0" cy="182880"/>
          </a:xfrm>
          <a:prstGeom prst="line">
            <a:avLst/>
          </a:prstGeom>
          <a:ln w="19050">
            <a:solidFill>
              <a:srgbClr val="775F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12648" y="2441448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Query Contextualization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67228" y="3008376"/>
            <a:ext cx="0" cy="182880"/>
          </a:xfrm>
          <a:prstGeom prst="line">
            <a:avLst/>
          </a:prstGeom>
          <a:ln w="19050">
            <a:solidFill>
              <a:srgbClr val="775F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" y="3191256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Retrieval (similarity + threshold)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67228" y="3758184"/>
            <a:ext cx="0" cy="182880"/>
          </a:xfrm>
          <a:prstGeom prst="line">
            <a:avLst/>
          </a:prstGeom>
          <a:ln w="19050">
            <a:solidFill>
              <a:srgbClr val="775F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" y="3941064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D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LLM Generation (Groq, grounded)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67228" y="4507992"/>
            <a:ext cx="0" cy="182880"/>
          </a:xfrm>
          <a:prstGeom prst="line">
            <a:avLst/>
          </a:prstGeom>
          <a:ln w="19050">
            <a:solidFill>
              <a:srgbClr val="775F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8" y="4690872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775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Cited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1691640"/>
            <a:ext cx="30784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History-aware: </a:t>
            </a:r>
            <a:r>
              <a:rPr sz="1250" b="0">
                <a:solidFill>
                  <a:srgbClr val="333333"/>
                </a:solidFill>
                <a:latin typeface="Calibri"/>
              </a:rPr>
              <a:t>rewrites follow-up questions using chat context before searching.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Retrieval: </a:t>
            </a:r>
            <a:r>
              <a:rPr sz="1250" b="0">
                <a:solidFill>
                  <a:srgbClr val="333333"/>
                </a:solidFill>
                <a:latin typeface="Calibri"/>
              </a:rPr>
              <a:t>top-k similarity search with a minimum relevance score threshold, so weak matches are dropped.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Generation: </a:t>
            </a:r>
            <a:r>
              <a:rPr sz="1250" b="0">
                <a:solidFill>
                  <a:srgbClr val="333333"/>
                </a:solidFill>
                <a:latin typeface="Calibri"/>
              </a:rPr>
              <a:t>answers ONLY from retrieved statutory text — reduces hallucinated law.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7223760" cy="0"/>
          </a:xfrm>
        </p:spPr>
        <p:txBody>
          <a:bodyPr wrap="square">
            <a:normAutofit fontScale="90000"/>
          </a:bodyPr>
          <a:lstStyle/>
          <a:p>
            <a:r>
              <a:rPr sz="2400" b="1" dirty="0">
                <a:solidFill>
                  <a:srgbClr val="333333"/>
                </a:solidFill>
                <a:latin typeface="Calibri"/>
              </a:rPr>
              <a:t>Work Done — Engineering Challenges Solved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6656" y="1897380"/>
            <a:ext cx="457200" cy="457200"/>
          </a:xfrm>
          <a:prstGeom prst="ellipse">
            <a:avLst/>
          </a:prstGeom>
          <a:solidFill>
            <a:srgbClr val="775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45920"/>
            <a:ext cx="742187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775F55"/>
                </a:solidFill>
                <a:latin typeface="Calibri"/>
              </a:rPr>
              <a:t>PDF text extraction glued words together</a:t>
            </a:r>
          </a:p>
          <a:p>
            <a:pPr>
              <a:lnSpc>
                <a:spcPct val="105000"/>
              </a:lnSpc>
            </a:pPr>
            <a:r>
              <a:rPr sz="1250">
                <a:solidFill>
                  <a:srgbClr val="333333"/>
                </a:solidFill>
                <a:latin typeface="Calibri"/>
              </a:rPr>
              <a:t>A font-encoding issue in one act's PDF stripped spaces between words. Fixed by tuning pdfplumber's word-boundary tolerance.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2930652"/>
            <a:ext cx="457200" cy="457200"/>
          </a:xfrm>
          <a:prstGeom prst="ellipse">
            <a:avLst/>
          </a:prstGeom>
          <a:solidFill>
            <a:srgbClr val="775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79192"/>
            <a:ext cx="742187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775F55"/>
                </a:solidFill>
                <a:latin typeface="Calibri"/>
              </a:rPr>
              <a:t>Section-boundary regex missed real sections</a:t>
            </a:r>
          </a:p>
          <a:p>
            <a:pPr>
              <a:lnSpc>
                <a:spcPct val="105000"/>
              </a:lnSpc>
            </a:pPr>
            <a:r>
              <a:rPr sz="1250">
                <a:solidFill>
                  <a:srgbClr val="333333"/>
                </a:solidFill>
                <a:latin typeface="Calibri"/>
              </a:rPr>
              <a:t>Acts number sections bare (“303.”), not “Section 303”. Rewrote the regex and validated it against real extracted text.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963924"/>
            <a:ext cx="457200" cy="457200"/>
          </a:xfrm>
          <a:prstGeom prst="ellipse">
            <a:avLst/>
          </a:prstGeom>
          <a:solidFill>
            <a:srgbClr val="775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712464"/>
            <a:ext cx="742187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775F55"/>
                </a:solidFill>
                <a:latin typeface="Calibri"/>
              </a:rPr>
              <a:t>Chosen LLM model was deprecated mid-project</a:t>
            </a:r>
          </a:p>
          <a:p>
            <a:pPr>
              <a:lnSpc>
                <a:spcPct val="105000"/>
              </a:lnSpc>
            </a:pPr>
            <a:r>
              <a:rPr sz="1250">
                <a:solidFill>
                  <a:srgbClr val="333333"/>
                </a:solidFill>
                <a:latin typeface="Calibri"/>
              </a:rPr>
              <a:t>Groq retired the originally selected model. Diagnosed via the API error and switched to an actively supported model.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997196"/>
            <a:ext cx="457200" cy="457200"/>
          </a:xfrm>
          <a:prstGeom prst="ellipse">
            <a:avLst/>
          </a:prstGeom>
          <a:solidFill>
            <a:srgbClr val="775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745736"/>
            <a:ext cx="742187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775F55"/>
                </a:solidFill>
                <a:latin typeface="Calibri"/>
              </a:rPr>
              <a:t>No embeddings API on the chat provider</a:t>
            </a:r>
          </a:p>
          <a:p>
            <a:pPr>
              <a:lnSpc>
                <a:spcPct val="105000"/>
              </a:lnSpc>
            </a:pPr>
            <a:r>
              <a:rPr sz="1250">
                <a:solidFill>
                  <a:srgbClr val="333333"/>
                </a:solidFill>
                <a:latin typeface="Calibri"/>
              </a:rPr>
              <a:t>Groq offers no embeddings endpoint. Adopted a free, local sentence-transformers model, decoupled from the chat LLM.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7223760" cy="0"/>
          </a:xfrm>
        </p:spPr>
        <p:txBody>
          <a:bodyPr wrap="square">
            <a:normAutofit fontScale="90000"/>
          </a:bodyPr>
          <a:lstStyle/>
          <a:p>
            <a:r>
              <a:rPr sz="2700" b="1" dirty="0">
                <a:solidFill>
                  <a:srgbClr val="333333"/>
                </a:solidFill>
                <a:latin typeface="Calibri"/>
              </a:rPr>
              <a:t>Work Done —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3931920" cy="4495800"/>
          </a:xfrm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31 test cases + 3 multi-turn, </a:t>
            </a:r>
            <a:r>
              <a:rPr sz="1300" b="0">
                <a:solidFill>
                  <a:srgbClr val="333333"/>
                </a:solidFill>
                <a:latin typeface="Calibri"/>
              </a:rPr>
              <a:t>across 7 categories, built as a repeatable regression suite — run after any pipeline change.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Categories: </a:t>
            </a:r>
            <a:r>
              <a:rPr sz="1300" b="0">
                <a:solidFill>
                  <a:srgbClr val="333333"/>
                </a:solidFill>
                <a:latin typeface="Calibri"/>
              </a:rPr>
              <a:t>coverage, precision, specificity, definition, naming, negative, adversarial.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Real finding: </a:t>
            </a:r>
            <a:r>
              <a:rPr sz="1300" b="0">
                <a:solidFill>
                  <a:srgbClr val="333333"/>
                </a:solidFill>
                <a:latin typeface="Calibri"/>
              </a:rPr>
              <a:t>an early run surfaced the assistant citing the repealed “Indian Penal Code” instead of the current Bharatiya Nyaya Sanhita — prompted a grounding-prompt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73168" y="1600200"/>
          <a:ext cx="3992879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7223760" cy="0"/>
          </a:xfrm>
        </p:spPr>
        <p:txBody>
          <a:bodyPr wrap="square">
            <a:normAutofit fontScale="90000"/>
          </a:bodyPr>
          <a:lstStyle/>
          <a:p>
            <a:r>
              <a:rPr sz="3200" b="1" dirty="0">
                <a:solidFill>
                  <a:srgbClr val="333333"/>
                </a:solidFill>
                <a:latin typeface="Calibri"/>
              </a:rPr>
              <a:t>Work To Be Done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6656" y="1700784"/>
            <a:ext cx="420624" cy="420624"/>
          </a:xfrm>
          <a:prstGeom prst="ellipse">
            <a:avLst/>
          </a:prstGeom>
          <a:solidFill>
            <a:srgbClr val="7B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016" y="1600200"/>
            <a:ext cx="74675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775F55"/>
                </a:solidFill>
                <a:latin typeface="Calibri"/>
              </a:rPr>
              <a:t>Complete corpus validation:  </a:t>
            </a:r>
            <a:r>
              <a:rPr sz="1300">
                <a:solidFill>
                  <a:srgbClr val="333333"/>
                </a:solidFill>
                <a:latin typeface="Calibri"/>
              </a:rPr>
              <a:t>Run the full 31-case suite; refine chunking until section citations are fully precise.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2395727"/>
            <a:ext cx="420624" cy="420624"/>
          </a:xfrm>
          <a:prstGeom prst="ellipse">
            <a:avLst/>
          </a:prstGeom>
          <a:solidFill>
            <a:srgbClr val="7B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295144"/>
            <a:ext cx="74675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775F55"/>
                </a:solidFill>
                <a:latin typeface="Calibri"/>
              </a:rPr>
              <a:t>Backend:  </a:t>
            </a:r>
            <a:r>
              <a:rPr sz="1300">
                <a:solidFill>
                  <a:srgbClr val="333333"/>
                </a:solidFill>
                <a:latin typeface="Calibri"/>
              </a:rPr>
              <a:t>Redis caching and session/chat-history persistence.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090672"/>
            <a:ext cx="420624" cy="420624"/>
          </a:xfrm>
          <a:prstGeom prst="ellipse">
            <a:avLst/>
          </a:prstGeom>
          <a:solidFill>
            <a:srgbClr val="7B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990088"/>
            <a:ext cx="74675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775F55"/>
                </a:solidFill>
                <a:latin typeface="Calibri"/>
              </a:rPr>
              <a:t>Source citation links:  </a:t>
            </a:r>
            <a:r>
              <a:rPr sz="1300">
                <a:solidFill>
                  <a:srgbClr val="333333"/>
                </a:solidFill>
                <a:latin typeface="Calibri"/>
              </a:rPr>
              <a:t>Link each cited section to India Code for user verification.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3785615"/>
            <a:ext cx="420624" cy="420624"/>
          </a:xfrm>
          <a:prstGeom prst="ellipse">
            <a:avLst/>
          </a:prstGeom>
          <a:solidFill>
            <a:srgbClr val="7B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3685032"/>
            <a:ext cx="74675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775F55"/>
                </a:solidFill>
                <a:latin typeface="Calibri"/>
              </a:rPr>
              <a:t>Frontend:  </a:t>
            </a:r>
            <a:r>
              <a:rPr sz="1300">
                <a:solidFill>
                  <a:srgbClr val="333333"/>
                </a:solidFill>
                <a:latin typeface="Calibri"/>
              </a:rPr>
              <a:t>Next.js chat interface wired to the RAG backend.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4480559"/>
            <a:ext cx="420624" cy="420624"/>
          </a:xfrm>
          <a:prstGeom prst="ellipse">
            <a:avLst/>
          </a:prstGeom>
          <a:solidFill>
            <a:srgbClr val="7B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" y="4379976"/>
            <a:ext cx="74675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775F55"/>
                </a:solidFill>
                <a:latin typeface="Calibri"/>
              </a:rPr>
              <a:t>GraphRAG exploration:  </a:t>
            </a:r>
            <a:r>
              <a:rPr sz="1300">
                <a:solidFill>
                  <a:srgbClr val="333333"/>
                </a:solidFill>
                <a:latin typeface="Calibri"/>
              </a:rPr>
              <a:t>Cross-referenced retrieval for related sections, definitions, and exceptions.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5175503"/>
            <a:ext cx="420624" cy="420624"/>
          </a:xfrm>
          <a:prstGeom prst="ellipse">
            <a:avLst/>
          </a:prstGeom>
          <a:solidFill>
            <a:srgbClr val="7B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" y="5074920"/>
            <a:ext cx="74675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775F55"/>
                </a:solidFill>
                <a:latin typeface="Calibri"/>
              </a:rPr>
              <a:t>Final integration:  </a:t>
            </a:r>
            <a:r>
              <a:rPr sz="1300">
                <a:solidFill>
                  <a:srgbClr val="333333"/>
                </a:solidFill>
                <a:latin typeface="Calibri"/>
              </a:rPr>
              <a:t>End-to-end deployment and report writing.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5400" y="762000"/>
            <a:ext cx="7223760" cy="0"/>
          </a:xfrm>
        </p:spPr>
        <p:txBody>
          <a:bodyPr wrap="square">
            <a:normAutofit fontScale="90000"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12648" y="1783080"/>
            <a:ext cx="2534920" cy="3291840"/>
          </a:xfrm>
          <a:prstGeom prst="roundRect">
            <a:avLst>
              <a:gd name="adj" fmla="val 6000"/>
            </a:avLst>
          </a:prstGeom>
          <a:solidFill>
            <a:srgbClr val="F7F4EE"/>
          </a:solidFill>
          <a:ln w="9525">
            <a:solidFill>
              <a:srgbClr val="94B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2648" y="1783080"/>
            <a:ext cx="2534920" cy="502920"/>
          </a:xfrm>
          <a:prstGeom prst="roundRect">
            <a:avLst>
              <a:gd name="adj" fmla="val 6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205736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Built and validated a working RAG pipeline, end to end, for Indian statutory law — from raw PDFs to a grounded, cited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1887" y="1783080"/>
            <a:ext cx="2534920" cy="3291840"/>
          </a:xfrm>
          <a:prstGeom prst="roundRect">
            <a:avLst>
              <a:gd name="adj" fmla="val 6000"/>
            </a:avLst>
          </a:prstGeom>
          <a:solidFill>
            <a:srgbClr val="F7F4EE"/>
          </a:solidFill>
          <a:ln w="9525">
            <a:solidFill>
              <a:srgbClr val="DD8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21887" y="1783080"/>
            <a:ext cx="2534920" cy="502920"/>
          </a:xfrm>
          <a:prstGeom prst="roundRect">
            <a:avLst>
              <a:gd name="adj" fmla="val 6000"/>
            </a:avLst>
          </a:prstGeom>
          <a:solidFill>
            <a:srgbClr val="DD8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Rigor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6480" y="2468880"/>
            <a:ext cx="2205736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Identified and fixed real data-quality and retrieval-precision issues through systematic testing, not assumption.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127" y="1783080"/>
            <a:ext cx="2534920" cy="3291840"/>
          </a:xfrm>
          <a:prstGeom prst="roundRect">
            <a:avLst>
              <a:gd name="adj" fmla="val 6000"/>
            </a:avLst>
          </a:prstGeom>
          <a:solidFill>
            <a:srgbClr val="F7F4EE"/>
          </a:solidFill>
          <a:ln w="9525">
            <a:solidFill>
              <a:srgbClr val="775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31127" y="1783080"/>
            <a:ext cx="2534920" cy="502920"/>
          </a:xfrm>
          <a:prstGeom prst="roundRect">
            <a:avLst>
              <a:gd name="adj" fmla="val 6000"/>
            </a:avLst>
          </a:prstGeom>
          <a:solidFill>
            <a:srgbClr val="775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Expected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5719" y="2468880"/>
            <a:ext cx="2205736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A free, extensible, source-cited legal information assistant, usable by laypersons, on a reproducible low-cost model stack (Groq + local embeddings) with no paid API dependency.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7223760" cy="0"/>
          </a:xfrm>
        </p:spPr>
        <p:txBody>
          <a:bodyPr wrap="square">
            <a:normAutofit fontScale="90000"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399" cy="4495800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[1] LawGlance, “lawglance/lawglance,” GitHub repository. [Online]. Available: https://github.com/lawglance/lawglance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[2] Government of India, “India Code — Digital Repository of Central and State Acts.” [Online]. Available: https://www.indiacode.nic.in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[3] P. Lewis et al., “Retrieval-Augmented Generation for Knowledge-Intensive NLP Tasks,” in Proc. NeurIPS, 2020.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[4] N. Reimers and I. Gurevych, “Sentence-BERT: Sentence Embeddings using Siamese BERT-Networks,” in Proc. EMNLP-IJCNLP, 2019.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[5] LangChain, “LangChain Documentation.” [Online]. Available: https://python.langchain.com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[6] Chroma, “Chroma — AI-native open-source vector database.” [Online]. Available: https://www.trychroma.com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[7] Groq Inc., “GroqCloud API Documentation.” [Online]. Available: https://console.groq.com/docs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[8] Ministry of Home Affairs, Government of India, “The Bharatiya Nyaya Sanhita, 2023.”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990600" y="3352800"/>
            <a:ext cx="7123113" cy="1673225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C:\Users\vipin.tyagi\Desktop\footer-im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52400"/>
            <a:ext cx="1215437" cy="144780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</TotalTime>
  <Words>1363</Words>
  <Application>Microsoft Office PowerPoint</Application>
  <PresentationFormat>On-screen Show (4:3)</PresentationFormat>
  <Paragraphs>167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Tw Cen MT</vt:lpstr>
      <vt:lpstr>Wingdings</vt:lpstr>
      <vt:lpstr>Wingdings 2</vt:lpstr>
      <vt:lpstr>Median</vt:lpstr>
      <vt:lpstr>LegalAssistant: AI-Powered RAG-Based Legal Assistant</vt:lpstr>
      <vt:lpstr>Introduction</vt:lpstr>
      <vt:lpstr>Problem Statement</vt:lpstr>
      <vt:lpstr>Literature Review</vt:lpstr>
      <vt:lpstr>Limitations of Existing Work</vt:lpstr>
      <vt:lpstr>Work Plan</vt:lpstr>
      <vt:lpstr>Individual Contribution</vt:lpstr>
      <vt:lpstr>Work Done — Dataset &amp; Data Pipeline</vt:lpstr>
      <vt:lpstr>Work Done — RAG Architecture</vt:lpstr>
      <vt:lpstr>Work Done — Engineering Challenges Solved</vt:lpstr>
      <vt:lpstr>Work Done — Evaluation Framework</vt:lpstr>
      <vt:lpstr>Work To Be Done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vipin tyagi</dc:creator>
  <cp:lastModifiedBy>Devashish Rawat</cp:lastModifiedBy>
  <cp:revision>4</cp:revision>
  <dcterms:created xsi:type="dcterms:W3CDTF">2006-08-16T00:00:00Z</dcterms:created>
  <dcterms:modified xsi:type="dcterms:W3CDTF">2026-09-07T05:13:57Z</dcterms:modified>
</cp:coreProperties>
</file>